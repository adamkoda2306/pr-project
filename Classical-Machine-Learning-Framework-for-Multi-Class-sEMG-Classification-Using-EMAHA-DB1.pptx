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26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168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Classical Machine Learning Framework for Multi-Class sEMG Classification Using EMAHA-DB1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11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classical ML-based system for 22-class ADL recognition using the EMAHA-DB1 sEMG dataset.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69187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28224" y="42036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Koda Adam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69403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S20230020312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969187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4203621"/>
            <a:ext cx="4524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Goluguri Nikhil Suri Reddy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469403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S20230020302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518190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224" y="5752624"/>
            <a:ext cx="3135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Abraham Scariya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624304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S20230020275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518190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982" y="5752624"/>
            <a:ext cx="3305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Kalla Sanjay Naidu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624304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S20230020309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71061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Indian Institute of Information Technology, Sri City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1BC96C-22A4-DE50-BCFF-AE35F7B16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6134"/>
            <a:ext cx="117551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Motivation &amp; 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85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Surface electromyography (sEMG) signal classification is a critical area in biomedical engineering, enabling intuitive human-machine interaction.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99497"/>
            <a:ext cx="4196358" cy="3173849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856792"/>
            <a:ext cx="32885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Real-World Impact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347210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advanced prosthetics, sophisticated rehabilitation tools, and responsive robotics, enhancing quality of life and functionality.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599497"/>
            <a:ext cx="4196358" cy="3173849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4256" y="385679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Complexity of ADL Recognition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4701540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Activities of Daily Living (ADL) classification presents significantly greater challenges compared to simple gesture recognition due to variability and contextual nuances.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599497"/>
            <a:ext cx="4196358" cy="3173849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7427" y="385679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Interpretability &amp; Efficiency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7427" y="4701540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a growing need for lightweight, interpretable classical machine learning models capable of handling this complexity efficiently.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E82863-2413-9BCE-E87D-39378E423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4909"/>
            <a:ext cx="108480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EMAHA-DB1 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373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EMAHA-DB1 dataset is a comprehensive resource for sEMG research, capturing a wide range of human activities.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82183"/>
            <a:ext cx="49963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Specifications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8342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subjects participated in the data collection.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7648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distinct Activities of Daily Living (ADL) were performed.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8158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8-channel sEMG signals were recorded at a high sampling rate of 2000 Hz.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8668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Activities are categorized by FAABOS (Feeding, Ambulation, Assessment, Body Positioning, Object Interaction, Self-Care).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182183"/>
            <a:ext cx="42605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Inherent Challenges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8342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Variability: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Significant differences in sEMG signals across subjects and repetitions.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393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Overlap: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Similar sEMG patterns for different ADL activities.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44449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Imbalance: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Uneven distribution of samples across different activity classes.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624959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Presence of artifacts and electrical interference affecting signal quality.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59EE55-A357-5CF7-ABFD-3E68499D9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495" y="887611"/>
            <a:ext cx="13115687" cy="64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Preprocessing for Optimal Signal Quality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495" y="1941195"/>
            <a:ext cx="13191411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preprocessing steps are essential to transform raw sEMG signals into a clean, standardized format suitable for feature extraction and classification.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9495" y="2830354"/>
            <a:ext cx="205502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9495" y="3156823"/>
            <a:ext cx="6492954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719495" y="3305294"/>
            <a:ext cx="3688437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DC Offset Removal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9495" y="3814048"/>
            <a:ext cx="6492954" cy="98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constant bias from the sEMG signal, ensuring that signals are centered around zero and accurately reflect muscle activity.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17951" y="2830354"/>
            <a:ext cx="205502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7951" y="3156823"/>
            <a:ext cx="6492954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7417951" y="3305294"/>
            <a:ext cx="4298156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Z-score Normalization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17951" y="3814048"/>
            <a:ext cx="6492954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Standardizes signal amplitudes by subtracting the mean and dividing by the standard deviation, reducing inter-subject variability.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495" y="5160645"/>
            <a:ext cx="205502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495" y="5487114"/>
            <a:ext cx="6492954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2"/>
          <p:cNvSpPr/>
          <p:nvPr/>
        </p:nvSpPr>
        <p:spPr>
          <a:xfrm>
            <a:off x="719495" y="5635585"/>
            <a:ext cx="4230886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Windowing Technique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9495" y="6144339"/>
            <a:ext cx="6492954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a 250 ms window with a 50% overlap to segment the continuous sEMG data, creating discrete frames for analysis.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17951" y="5160645"/>
            <a:ext cx="205502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17951" y="5487114"/>
            <a:ext cx="6492954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6"/>
          <p:cNvSpPr/>
          <p:nvPr/>
        </p:nvSpPr>
        <p:spPr>
          <a:xfrm>
            <a:off x="7417951" y="5635585"/>
            <a:ext cx="6492954" cy="770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Output: Clean, Standardized Frames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17951" y="6529745"/>
            <a:ext cx="6492954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result is a set of clean and standardized EMG frames, perfectly prepared for the subsequent feature extraction stage.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87D512E-FFC8-961A-3F39-25592C48F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607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Comprehensive Feature Extraction (193 Features)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872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rich set of 193 features was extracted to comprehensively describe the sEMG signals, capturing various aspects of muscle activity.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229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Time-Domain Features: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Mean Absolute Value (MAV), Root Mean Square (RMS), Waveform Length (WL), Zero Crossings (ZC), Slope Sign Changes (SSC), Willison Amplitude (WAMP).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6032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Frequency-Domain Features: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Mean Frequency (MNF), Median Frequency (MDF), various band powers.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4083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Features: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Variance, Skewness, Kurtosis, Hjorth parameters (Activity, Mobility, Complexity).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07229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Nonlinear Features: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Entropy measures (e.g., Sample Entropy, Approximate Entropy), Fractal Dimension.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87739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Autoregressive (AR) Coefficients: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 models of orders 1 through 10, capturing temporal dependencies.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68249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features collectively capture amplitude, frequency content, signal complexity, and temporal patterns, crucial for discriminative classification.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19E461-E79D-2E9B-A3A5-6268D7EB2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518" y="563880"/>
            <a:ext cx="13197364" cy="127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Feature Selection (Final 40 Features)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6518" y="2252663"/>
            <a:ext cx="13197364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optimize model performance, reduce overfitting, and improve computational efficiency, a multi-stage feature selection process was employed.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18" y="3137773"/>
            <a:ext cx="4399121" cy="818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1187" y="4161234"/>
            <a:ext cx="3876675" cy="38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Correlation Filtering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21187" y="4667726"/>
            <a:ext cx="3989784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step to identify and remove highly correlated features, minimizing redundancy and multicollinearity.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639" y="3137773"/>
            <a:ext cx="4399121" cy="8187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20308" y="4161234"/>
            <a:ext cx="3989784" cy="76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Mutual Information Ranking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320308" y="5051465"/>
            <a:ext cx="3989784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Features ranked based on their mutual information with the target variable, selecting the top 80 most informative features.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761" y="3137773"/>
            <a:ext cx="4399121" cy="818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9429" y="4161234"/>
            <a:ext cx="3989784" cy="76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Random Forest Importance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9719429" y="5051465"/>
            <a:ext cx="3989784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Leveraged Random Forest to determine feature importance, leading to the selection of the final 40 most discriminative features.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16518" y="6796088"/>
            <a:ext cx="13197364" cy="869633"/>
          </a:xfrm>
          <a:prstGeom prst="roundRect">
            <a:avLst>
              <a:gd name="adj" fmla="val 9888"/>
            </a:avLst>
          </a:prstGeom>
          <a:solidFill>
            <a:srgbClr val="C1F1E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87" y="7108865"/>
            <a:ext cx="255865" cy="2046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81720" y="7051834"/>
            <a:ext cx="1232749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Benefits: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Reduced overfitting, faster training times, and enhanced model generalization capabilities.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8C30D8-3C0F-C71A-EB02-2A206FD7EA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7238" y="7768233"/>
            <a:ext cx="2953162" cy="421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9968"/>
            <a:ext cx="12796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Learning Models Employed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623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suite of classical machine learning models was evaluated to determine the most effective approach for sEMG ADL classification.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3332"/>
            <a:ext cx="13042821" cy="4068128"/>
          </a:xfrm>
          <a:prstGeom prst="roundRect">
            <a:avLst>
              <a:gd name="adj" fmla="val 23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850952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299466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40379" y="2994660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the best performance with an accuracy of </a:t>
            </a: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73%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demonstrating its robustness for complex, high-dimensional data.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864173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400788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+ Ensemble KNN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4007882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Performed commendably with </a:t>
            </a: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70%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accuracy, benefiting from the reduced feature set and ensemble methodology.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877395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502110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940379" y="5021104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Showcased solid performance at </a:t>
            </a: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67%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providing a good balance between accuracy and interpretability.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89061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603432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SVM Cubic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940379" y="6034326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Exhibited the weakest performance at </a:t>
            </a: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57%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indicating limitations in handling the inherent heterogeneity of sEMG data.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7166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models were trained using the same optimized 40-feature vector to ensure a fair and consistent comparative analysis.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40ACF7-7592-72B5-F3CF-5DA146C49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529513"/>
            <a:ext cx="2953162" cy="6604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607457"/>
            <a:ext cx="7748707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 &amp; Key Findings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3073" y="1739384"/>
            <a:ext cx="13084254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comparative analysis of various classical machine learning models revealed distinct performance characteristics for sEMG ADL classification.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3073" y="2694623"/>
            <a:ext cx="13084254" cy="3974068"/>
          </a:xfrm>
          <a:prstGeom prst="roundRect">
            <a:avLst>
              <a:gd name="adj" fmla="val 233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0693" y="2702242"/>
            <a:ext cx="6534507" cy="1979414"/>
          </a:xfrm>
          <a:prstGeom prst="roundRect">
            <a:avLst>
              <a:gd name="adj" fmla="val 4687"/>
            </a:avLst>
          </a:prstGeom>
          <a:solidFill>
            <a:srgbClr val="D6F5EE"/>
          </a:solidFill>
          <a:ln/>
        </p:spPr>
      </p:sp>
      <p:sp>
        <p:nvSpPr>
          <p:cNvPr id="6" name="Text 4"/>
          <p:cNvSpPr/>
          <p:nvPr/>
        </p:nvSpPr>
        <p:spPr>
          <a:xfrm>
            <a:off x="1001554" y="2923103"/>
            <a:ext cx="3576280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XGBoost Dominance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01554" y="3400663"/>
            <a:ext cx="6092785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Demonstrated the strongest class separation and highest accuracy, attributing its success to efficient handling of non-linear relationships.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2702242"/>
            <a:ext cx="6534507" cy="1979414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702242"/>
            <a:ext cx="30480" cy="1979414"/>
          </a:xfrm>
          <a:prstGeom prst="roundRect">
            <a:avLst>
              <a:gd name="adj" fmla="val 304386"/>
            </a:avLst>
          </a:prstGeom>
          <a:solidFill>
            <a:srgbClr val="BCDBD4"/>
          </a:solidFill>
          <a:ln/>
        </p:spPr>
      </p:sp>
      <p:sp>
        <p:nvSpPr>
          <p:cNvPr id="10" name="Text 8"/>
          <p:cNvSpPr/>
          <p:nvPr/>
        </p:nvSpPr>
        <p:spPr>
          <a:xfrm>
            <a:off x="7536061" y="292310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KNN's Efficacy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536061" y="3400663"/>
            <a:ext cx="6092785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Performed well, likely due to the reduced dimensionality and improved feature space after selection, enhancing nearest neighbor identification.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0693" y="4681657"/>
            <a:ext cx="6534507" cy="1979414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0693" y="4681657"/>
            <a:ext cx="6534507" cy="30480"/>
          </a:xfrm>
          <a:prstGeom prst="roundRect">
            <a:avLst>
              <a:gd name="adj" fmla="val 304386"/>
            </a:avLst>
          </a:prstGeom>
          <a:solidFill>
            <a:srgbClr val="BCDB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1554" y="4902518"/>
            <a:ext cx="3750112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Random Forest's Role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001554" y="5380077"/>
            <a:ext cx="6092785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moderately effective results, highlighting its ability to manage complex data while mitigating overfitting.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0" y="4681657"/>
            <a:ext cx="6534507" cy="1979414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4681657"/>
            <a:ext cx="30480" cy="1979414"/>
          </a:xfrm>
          <a:prstGeom prst="roundRect">
            <a:avLst>
              <a:gd name="adj" fmla="val 304386"/>
            </a:avLst>
          </a:prstGeom>
          <a:solidFill>
            <a:srgbClr val="BCDB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4681657"/>
            <a:ext cx="6534507" cy="30480"/>
          </a:xfrm>
          <a:prstGeom prst="roundRect">
            <a:avLst>
              <a:gd name="adj" fmla="val 304386"/>
            </a:avLst>
          </a:prstGeom>
          <a:solidFill>
            <a:srgbClr val="BCDB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36061" y="4902518"/>
            <a:ext cx="281701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SVM Challenges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7536061" y="5380077"/>
            <a:ext cx="6092785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Struggled with the heterogeneity and potentially non-separable nature of the sEMG data, leading to lower performance.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3073" y="6917174"/>
            <a:ext cx="13084254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the FAABOS category level, </a:t>
            </a:r>
            <a:r>
              <a:rPr lang="en-US" sz="17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Ambulation</a:t>
            </a: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activities were the easiest to classify, while </a:t>
            </a:r>
            <a:r>
              <a:rPr lang="en-US" sz="17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 Interaction</a:t>
            </a: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posed the greatest challenge.</a:t>
            </a:r>
            <a:endParaRPr lang="en-US" sz="1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3CB138-20C0-DA29-4D03-FE4EC3DA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102" y="493990"/>
            <a:ext cx="9980890" cy="55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Limitations &amp; Future Improvements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7102" y="1412081"/>
            <a:ext cx="13376196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promising results were achieved, several areas for improvement and further research have been identified.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7102" y="1995368"/>
            <a:ext cx="89535" cy="89535"/>
          </a:xfrm>
          <a:prstGeom prst="roundRect">
            <a:avLst>
              <a:gd name="adj" fmla="val 510638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895707" y="1900238"/>
            <a:ext cx="3546277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Evaluation Split Strategy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95707" y="2287548"/>
            <a:ext cx="1310759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current evaluation used a subject-dependent split; a more rigorous Leave-One-Subject-Out (LOSO) cross-validation is needed to assess generalizability.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102" y="3027640"/>
            <a:ext cx="89535" cy="89535"/>
          </a:xfrm>
          <a:prstGeom prst="roundRect">
            <a:avLst>
              <a:gd name="adj" fmla="val 510638"/>
            </a:avLst>
          </a:prstGeom>
          <a:solidFill>
            <a:srgbClr val="26A688"/>
          </a:solidFill>
          <a:ln/>
        </p:spPr>
      </p:sp>
      <p:sp>
        <p:nvSpPr>
          <p:cNvPr id="8" name="Text 6"/>
          <p:cNvSpPr/>
          <p:nvPr/>
        </p:nvSpPr>
        <p:spPr>
          <a:xfrm>
            <a:off x="895707" y="2932509"/>
            <a:ext cx="2701052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Expansion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95707" y="3319820"/>
            <a:ext cx="1310759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the number of subjects in the EMAHA-DB1 dataset will significantly enhance the robustness and reliability of the models.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102" y="4059912"/>
            <a:ext cx="89535" cy="89535"/>
          </a:xfrm>
          <a:prstGeom prst="roundRect">
            <a:avLst>
              <a:gd name="adj" fmla="val 510638"/>
            </a:avLst>
          </a:prstGeom>
          <a:solidFill>
            <a:srgbClr val="26A688"/>
          </a:solidFill>
          <a:ln/>
        </p:spPr>
      </p:sp>
      <p:sp>
        <p:nvSpPr>
          <p:cNvPr id="11" name="Text 9"/>
          <p:cNvSpPr/>
          <p:nvPr/>
        </p:nvSpPr>
        <p:spPr>
          <a:xfrm>
            <a:off x="895707" y="3964781"/>
            <a:ext cx="4295061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Feature Exploration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95707" y="4352092"/>
            <a:ext cx="1310759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Investigating wavelet-based features (e.g., DWT, CWT) could capture transient sEMG characteristics more effectively.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102" y="5092184"/>
            <a:ext cx="89535" cy="89535"/>
          </a:xfrm>
          <a:prstGeom prst="roundRect">
            <a:avLst>
              <a:gd name="adj" fmla="val 510638"/>
            </a:avLst>
          </a:prstGeom>
          <a:solidFill>
            <a:srgbClr val="26A688"/>
          </a:solidFill>
          <a:ln/>
        </p:spPr>
      </p:sp>
      <p:sp>
        <p:nvSpPr>
          <p:cNvPr id="14" name="Text 12"/>
          <p:cNvSpPr/>
          <p:nvPr/>
        </p:nvSpPr>
        <p:spPr>
          <a:xfrm>
            <a:off x="895707" y="4997053"/>
            <a:ext cx="3533061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Hybrid &amp; Stacked Models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95707" y="5384363"/>
            <a:ext cx="1310759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Exploring hybrid or stacked model architectures may leverage the strengths of multiple classifiers for improved accuracy.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102" y="6124456"/>
            <a:ext cx="89535" cy="89535"/>
          </a:xfrm>
          <a:prstGeom prst="roundRect">
            <a:avLst>
              <a:gd name="adj" fmla="val 510638"/>
            </a:avLst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895707" y="6029325"/>
            <a:ext cx="3438168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Deep Learning Baselines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95707" y="6416635"/>
            <a:ext cx="1310759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Benchmarking against deep learning models (CNN, LSTM, Transformers) would provide valuable insights into comparative performance.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102" y="7156728"/>
            <a:ext cx="89535" cy="89535"/>
          </a:xfrm>
          <a:prstGeom prst="roundRect">
            <a:avLst>
              <a:gd name="adj" fmla="val 510638"/>
            </a:avLst>
          </a:prstGeom>
          <a:solidFill>
            <a:srgbClr val="26A688"/>
          </a:solidFill>
          <a:ln/>
        </p:spPr>
      </p:sp>
      <p:sp>
        <p:nvSpPr>
          <p:cNvPr id="20" name="Text 18"/>
          <p:cNvSpPr/>
          <p:nvPr/>
        </p:nvSpPr>
        <p:spPr>
          <a:xfrm>
            <a:off x="895707" y="7061597"/>
            <a:ext cx="3091934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Real-time Deployment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95707" y="7448907"/>
            <a:ext cx="1310759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work should include testing the system's performance and feasibility in real-time deployment scenarios.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5B2B74E-522A-8984-CC37-FD82A95AB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9873"/>
            <a:ext cx="7090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 Contributions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522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was a collaborative effort, with each team member bringing specialized expertise to contribute to its success.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70334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67033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Koda Adam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41804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Responsible for feature extraction methodologies and XGBoost training.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670334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67033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2927628"/>
            <a:ext cx="4524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Goluguri Nikhil Suri Reddy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41804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and optimized the Fine + Ensemble KNN model.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27959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462795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4885253"/>
            <a:ext cx="3135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Abraham Scariya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37567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the Random Forest model and conducted comprehensive confusion matrix analysis.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627959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462795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4885253"/>
            <a:ext cx="3305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Kalla Sanjay Naidu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37567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the SVM (Cubic) model and optimized it.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66139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Joint Work: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Dataset handling, extensive literature review, final report compilation, and presentation development were collaborative efforts across the entire team.</a:t>
            </a:r>
            <a:endParaRPr lang="en-US" sz="1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80EB3AD-181B-C117-C0B2-15C8B8B1C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238" y="7437339"/>
            <a:ext cx="2953162" cy="752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1175</Words>
  <Application>Microsoft Office PowerPoint</Application>
  <PresentationFormat>Custom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Unbounded Bold</vt:lpstr>
      <vt:lpstr>Unbounded Light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 . Adam</cp:lastModifiedBy>
  <cp:revision>4</cp:revision>
  <dcterms:created xsi:type="dcterms:W3CDTF">2025-11-14T17:38:30Z</dcterms:created>
  <dcterms:modified xsi:type="dcterms:W3CDTF">2025-11-14T18:16:38Z</dcterms:modified>
</cp:coreProperties>
</file>